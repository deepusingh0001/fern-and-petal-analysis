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783aaf3-2c69-a4d9-8f2d-33f4b9cf8fad}">
          <p14:sldIdLst>
            <p14:sldId id="256"/>
          </p14:sldIdLst>
        </p14:section>
        <p14:section name="Overview" id="{6656081f-8caf-2da3-6d26-8b3b6fa81288}">
          <p14:sldIdLst>
            <p14:sldId id="257"/>
          </p14:sldIdLst>
        </p14:section>
        <p14:section name="Sales trends" id="{abcaf2ec-16bd-7e19-3d63-3f87b6531256}">
          <p14:sldIdLst>
            <p14:sldId id="258"/>
            <p14:sldId id="259"/>
          </p14:sldIdLst>
        </p14:section>
        <p14:section name="Products" id="{fd7dfb75-8a3a-0c70-673f-1bf782ab6caa}">
          <p14:sldIdLst>
            <p14:sldId id="260"/>
            <p14:sldId id="261"/>
            <p14:sldId id="262"/>
            <p14:sldId id="263"/>
          </p14:sldIdLst>
        </p14:section>
        <p14:section name="Customers" id="{8f40b160-a027-2e0d-8c01-2fcf6180b747}">
          <p14:sldIdLst>
            <p14:sldId id="264"/>
            <p14:sldId id="265"/>
          </p14:sldIdLst>
        </p14:section>
        <p14:section name="Operations" id="{194d2c52-3dd2-a908-3b46-a5116b0edaa7}">
          <p14:sldIdLst>
            <p14:sldId id="266"/>
          </p14:sldIdLst>
        </p14:section>
        <p14:section name="Wrap-up" id="{9e0e052e-26f0-fb74-4bcb-93bead15cfcd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lakh)</c:v>
                </c:pt>
              </c:strCache>
            </c:strRef>
          </c:tx>
          <c:spPr>
            <a:solidFill>
              <a:srgbClr val="C8DDB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331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5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5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F5A1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F5A1A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0.95</c:v>
                </c:pt>
                <c:pt idx="1">
                  <c:v>7.05</c:v>
                </c:pt>
                <c:pt idx="2">
                  <c:v>5.12</c:v>
                </c:pt>
                <c:pt idx="3">
                  <c:v>1.4</c:v>
                </c:pt>
                <c:pt idx="4">
                  <c:v>1.5</c:v>
                </c:pt>
                <c:pt idx="5">
                  <c:v>1.58</c:v>
                </c:pt>
                <c:pt idx="6">
                  <c:v>1.36</c:v>
                </c:pt>
                <c:pt idx="7">
                  <c:v>7.37</c:v>
                </c:pt>
                <c:pt idx="8">
                  <c:v>1.37</c:v>
                </c:pt>
                <c:pt idx="9">
                  <c:v>1.52</c:v>
                </c:pt>
                <c:pt idx="10">
                  <c:v>4.49</c:v>
                </c:pt>
                <c:pt idx="11">
                  <c:v>1.5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331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E6B55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E6B55"/>
                    </a:solidFill>
                    <a:latin typeface="+mn-lt"/>
                  </a:rPr>
                  <a:t>₹ lakh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lakh)</c:v>
                </c:pt>
              </c:strCache>
            </c:strRef>
          </c:tx>
          <c:spPr>
            <a:solidFill>
              <a:srgbClr val="2F5A1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331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5A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5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Anniversary</c:v>
                  </c:pt>
                  <c:pt idx="1">
                    <c:v>Raksha Bandhan</c:v>
                  </c:pt>
                  <c:pt idx="2">
                    <c:v>All Occasions</c:v>
                  </c:pt>
                  <c:pt idx="3">
                    <c:v>Holi</c:v>
                  </c:pt>
                  <c:pt idx="4">
                    <c:v>Birthday</c:v>
                  </c:pt>
                  <c:pt idx="5">
                    <c:v>Valentine's Day</c:v>
                  </c:pt>
                  <c:pt idx="6">
                    <c:v>Diwali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6.75</c:v>
                </c:pt>
                <c:pt idx="1">
                  <c:v>6.32</c:v>
                </c:pt>
                <c:pt idx="2">
                  <c:v>5.86</c:v>
                </c:pt>
                <c:pt idx="3">
                  <c:v>5.75</c:v>
                </c:pt>
                <c:pt idx="4">
                  <c:v>4.08</c:v>
                </c:pt>
                <c:pt idx="5">
                  <c:v>3.32</c:v>
                </c:pt>
                <c:pt idx="6">
                  <c:v>3.14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331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lakh)</c:v>
                </c:pt>
              </c:strCache>
            </c:strRef>
          </c:tx>
          <c:spPr>
            <a:solidFill>
              <a:srgbClr val="2F5A1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331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5A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Colors</c:v>
                  </c:pt>
                  <c:pt idx="1">
                    <c:v>Soft Toys</c:v>
                  </c:pt>
                  <c:pt idx="2">
                    <c:v>Sweets</c:v>
                  </c:pt>
                  <c:pt idx="3">
                    <c:v>Cake</c:v>
                  </c:pt>
                  <c:pt idx="4">
                    <c:v>Raksha Bandhan</c:v>
                  </c:pt>
                  <c:pt idx="5">
                    <c:v>Plants</c:v>
                  </c:pt>
                  <c:pt idx="6">
                    <c:v>Mugs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10.06</c:v>
                </c:pt>
                <c:pt idx="1">
                  <c:v>7.41</c:v>
                </c:pt>
                <c:pt idx="2">
                  <c:v>7.34</c:v>
                </c:pt>
                <c:pt idx="3">
                  <c:v>3.3</c:v>
                </c:pt>
                <c:pt idx="4">
                  <c:v>2.97</c:v>
                </c:pt>
                <c:pt idx="5">
                  <c:v>2.12</c:v>
                </c:pt>
                <c:pt idx="6">
                  <c:v>2.01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331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lakh)</c:v>
                </c:pt>
              </c:strCache>
            </c:strRef>
          </c:tx>
          <c:spPr>
            <a:solidFill>
              <a:srgbClr val="2F5A1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331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5A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DC63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DC63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DC63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DC63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Magnam Set</c:v>
                  </c:pt>
                  <c:pt idx="1">
                    <c:v>Quia Gift</c:v>
                  </c:pt>
                  <c:pt idx="2">
                    <c:v>Dolores Gift</c:v>
                  </c:pt>
                  <c:pt idx="3">
                    <c:v>Harum Pack</c:v>
                  </c:pt>
                  <c:pt idx="4">
                    <c:v>Deserunt Box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1.22</c:v>
                </c:pt>
                <c:pt idx="1">
                  <c:v>1.14</c:v>
                </c:pt>
                <c:pt idx="2">
                  <c:v>1.07</c:v>
                </c:pt>
                <c:pt idx="3">
                  <c:v>1.02</c:v>
                </c:pt>
                <c:pt idx="4">
                  <c:v>0.98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331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Magnam Set</c:v>
                </c:pt>
              </c:strCache>
            </c:strRef>
          </c:tx>
          <c:spPr>
            <a:solidFill>
              <a:srgbClr val="2F5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331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0.019</c:v>
                </c:pt>
                <c:pt idx="1">
                  <c:v>0.271</c:v>
                </c:pt>
                <c:pt idx="2">
                  <c:v>0.155</c:v>
                </c:pt>
                <c:pt idx="3">
                  <c:v>0.039</c:v>
                </c:pt>
                <c:pt idx="4">
                  <c:v>0.097</c:v>
                </c:pt>
                <c:pt idx="5">
                  <c:v>0.116</c:v>
                </c:pt>
                <c:pt idx="6">
                  <c:v>0.174</c:v>
                </c:pt>
                <c:pt idx="7">
                  <c:v>0</c:v>
                </c:pt>
                <c:pt idx="8">
                  <c:v>0.077</c:v>
                </c:pt>
                <c:pt idx="9">
                  <c:v>0.077</c:v>
                </c:pt>
                <c:pt idx="10">
                  <c:v>0.116</c:v>
                </c:pt>
                <c:pt idx="11">
                  <c:v>0.077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Quia Gift</c:v>
                </c:pt>
              </c:strCache>
            </c:strRef>
          </c:tx>
          <c:spPr>
            <a:solidFill>
              <a:srgbClr val="8DC6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331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0.076</c:v>
                </c:pt>
                <c:pt idx="2">
                  <c:v>0</c:v>
                </c:pt>
                <c:pt idx="3">
                  <c:v>0</c:v>
                </c:pt>
                <c:pt idx="4">
                  <c:v>0.064</c:v>
                </c:pt>
                <c:pt idx="5">
                  <c:v>0.076</c:v>
                </c:pt>
                <c:pt idx="6">
                  <c:v>0</c:v>
                </c:pt>
                <c:pt idx="7">
                  <c:v>0.687</c:v>
                </c:pt>
                <c:pt idx="8">
                  <c:v>0.076</c:v>
                </c:pt>
                <c:pt idx="9">
                  <c:v>0.025</c:v>
                </c:pt>
                <c:pt idx="10">
                  <c:v>0.051</c:v>
                </c:pt>
                <c:pt idx="11">
                  <c:v>0.089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Dolores Gift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331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1.066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Harum Pack</c:v>
                </c:pt>
              </c:strCache>
            </c:strRef>
          </c:tx>
          <c:spPr>
            <a:solidFill>
              <a:srgbClr val="6B8E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331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0.409</c:v>
                </c:pt>
                <c:pt idx="2">
                  <c:v>0.606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Deserunt Box</c:v>
                </c:pt>
              </c:strCache>
            </c:strRef>
          </c:tx>
          <c:spPr>
            <a:solidFill>
              <a:srgbClr val="C8DD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331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0.019</c:v>
                </c:pt>
                <c:pt idx="1">
                  <c:v>0.096</c:v>
                </c:pt>
                <c:pt idx="2">
                  <c:v>0</c:v>
                </c:pt>
                <c:pt idx="3">
                  <c:v>0.268</c:v>
                </c:pt>
                <c:pt idx="4">
                  <c:v>0</c:v>
                </c:pt>
                <c:pt idx="5">
                  <c:v>0.077</c:v>
                </c:pt>
                <c:pt idx="6">
                  <c:v>0.134</c:v>
                </c:pt>
                <c:pt idx="7">
                  <c:v>0</c:v>
                </c:pt>
                <c:pt idx="8">
                  <c:v>0.077</c:v>
                </c:pt>
                <c:pt idx="9">
                  <c:v>0.192</c:v>
                </c:pt>
                <c:pt idx="10">
                  <c:v>0.019</c:v>
                </c:pt>
                <c:pt idx="11">
                  <c:v>0.096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331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E6B55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E6B55"/>
                    </a:solidFill>
                    <a:latin typeface="+mn-lt"/>
                  </a:rPr>
                  <a:t>₹ lakh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E6B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2F5A1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331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5A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5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5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8DDB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Imphal</c:v>
                  </c:pt>
                  <c:pt idx="1">
                    <c:v>Dhanbad</c:v>
                  </c:pt>
                  <c:pt idx="2">
                    <c:v>Kavali</c:v>
                  </c:pt>
                  <c:pt idx="3">
                    <c:v>Haridwar</c:v>
                  </c:pt>
                  <c:pt idx="4">
                    <c:v>Bidhannagar</c:v>
                  </c:pt>
                  <c:pt idx="5">
                    <c:v>Dibrugarh</c:v>
                  </c:pt>
                  <c:pt idx="6">
                    <c:v>Guntakal</c:v>
                  </c:pt>
                  <c:pt idx="7">
                    <c:v>North Dumdum</c:v>
                  </c:pt>
                  <c:pt idx="8">
                    <c:v>Bilaspur</c:v>
                  </c:pt>
                  <c:pt idx="9">
                    <c:v>Bhatpara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</c:v>
                </c:pt>
                <c:pt idx="1">
                  <c:v>28</c:v>
                </c:pt>
                <c:pt idx="2">
                  <c:v>27</c:v>
                </c:pt>
                <c:pt idx="3">
                  <c:v>24</c:v>
                </c:pt>
                <c:pt idx="4">
                  <c:v>21</c:v>
                </c:pt>
                <c:pt idx="5">
                  <c:v>21</c:v>
                </c:pt>
                <c:pt idx="6">
                  <c:v>20</c:v>
                </c:pt>
                <c:pt idx="7">
                  <c:v>19</c:v>
                </c:pt>
                <c:pt idx="8">
                  <c:v>18</c:v>
                </c:pt>
                <c:pt idx="9">
                  <c:v>18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B331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31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3310"/>
                </a:solidFill>
                <a:latin typeface="+mn-lt"/>
              </a:rPr>
              <a:t>Revenue by hour of order (₹ lakh)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lakh)</c:v>
                </c:pt>
              </c:strCache>
            </c:strRef>
          </c:tx>
          <c:spPr>
            <a:solidFill>
              <a:srgbClr val="2F5A1A"/>
            </a:solidFill>
            <a:ln w="31750" cap="flat">
              <a:solidFill>
                <a:srgbClr val="2F5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331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5A1A"/>
              </a:solidFill>
              <a:ln w="9525" cap="flat">
                <a:solidFill>
                  <a:srgbClr val="2F5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0.99</c:v>
                </c:pt>
                <c:pt idx="1">
                  <c:v>1.29</c:v>
                </c:pt>
                <c:pt idx="2">
                  <c:v>1.53</c:v>
                </c:pt>
                <c:pt idx="3">
                  <c:v>1.47</c:v>
                </c:pt>
                <c:pt idx="4">
                  <c:v>1.15</c:v>
                </c:pt>
                <c:pt idx="5">
                  <c:v>1.56</c:v>
                </c:pt>
                <c:pt idx="6">
                  <c:v>1.77</c:v>
                </c:pt>
                <c:pt idx="7">
                  <c:v>1.48</c:v>
                </c:pt>
                <c:pt idx="8">
                  <c:v>1.34</c:v>
                </c:pt>
                <c:pt idx="9">
                  <c:v>1.54</c:v>
                </c:pt>
                <c:pt idx="10">
                  <c:v>0.95</c:v>
                </c:pt>
                <c:pt idx="11">
                  <c:v>1.3</c:v>
                </c:pt>
                <c:pt idx="12">
                  <c:v>1.62</c:v>
                </c:pt>
                <c:pt idx="13">
                  <c:v>1.52</c:v>
                </c:pt>
                <c:pt idx="14">
                  <c:v>1.26</c:v>
                </c:pt>
                <c:pt idx="15">
                  <c:v>1.64</c:v>
                </c:pt>
                <c:pt idx="16">
                  <c:v>1.29</c:v>
                </c:pt>
                <c:pt idx="17">
                  <c:v>1.55</c:v>
                </c:pt>
                <c:pt idx="18">
                  <c:v>1.73</c:v>
                </c:pt>
                <c:pt idx="19">
                  <c:v>1.86</c:v>
                </c:pt>
                <c:pt idx="20">
                  <c:v>1.86</c:v>
                </c:pt>
                <c:pt idx="21">
                  <c:v>1.55</c:v>
                </c:pt>
                <c:pt idx="22">
                  <c:v>1.26</c:v>
                </c:pt>
                <c:pt idx="23">
                  <c:v>1.69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331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E6B55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E6B55"/>
                    </a:solidFill>
                    <a:latin typeface="+mn-lt"/>
                  </a:rPr>
                  <a:t>Hour of day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D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delivery days</c:v>
                </c:pt>
              </c:strCache>
            </c:strRef>
          </c:tx>
          <c:spPr>
            <a:solidFill>
              <a:srgbClr val="8DC63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331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unit</c:v>
                  </c:pt>
                  <c:pt idx="1">
                    <c:v>2 units</c:v>
                  </c:pt>
                  <c:pt idx="2">
                    <c:v>3 units</c:v>
                  </c:pt>
                  <c:pt idx="3">
                    <c:v>4 units</c:v>
                  </c:pt>
                  <c:pt idx="4">
                    <c:v>5 units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5.54</c:v>
                </c:pt>
                <c:pt idx="1">
                  <c:v>5.38</c:v>
                </c:pt>
                <c:pt idx="2">
                  <c:v>5.83</c:v>
                </c:pt>
                <c:pt idx="3">
                  <c:v>5.25</c:v>
                </c:pt>
                <c:pt idx="4">
                  <c:v>5.63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331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E3E8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E6B55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E6B55"/>
                    </a:solidFill>
                    <a:latin typeface="+mn-lt"/>
                  </a:rPr>
                  <a:t>Average days to deliver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The deck answers the ten business questions in the FNP problem statement using the orders, products and customers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headline numbers, then three takeaways. Total revenue is the sum of price x quantity across all 1,000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Feb includes Valentine's Day (₹3.32L) and early Holi orders (₹2.0L); Mar is Holi (₹3.74L); Aug is Raksha Bandhan (₹6.32L); Nov is Diwali (₹3.14L).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groups by product name. Quia Gift appears twice in the product list (Colors and Raksha Bandhan); if grouped by Product_ID, Nostrum Box replaces it in the top five.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follows the dashboard, which uses the customer's city from the customers file. The Location field on orders (delivery destination) has 301 distinct values; the largest are Bareilly and Ghaziabad with 9 orders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revenue ₹35,20,984 / 1,000 orders = ₹3,521 per order; / 100 customers = ₹35,210 per customer. The dashboard card labelled 'Avg. Customer's Spent' shows the per-order figure. Customer totals range from ₹8,403 to ₹75,029.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F5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rgbClr val="2F5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large"/>
          <p:cNvSpPr/>
          <p:nvPr/>
        </p:nvSpPr>
        <p:spPr>
          <a:xfrm>
            <a:off x="6035040" y="822960"/>
            <a:ext cx="2926080" cy="2926080"/>
          </a:xfrm>
          <a:prstGeom prst="ellipse">
            <a:avLst/>
          </a:prstGeom>
          <a:solidFill>
            <a:srgbClr val="8DC63F">
              <a:alpha val="75000"/>
            </a:srgbClr>
          </a:solidFill>
          <a:ln w="12700">
            <a:solidFill>
              <a:srgbClr val="8DC63F">
                <a:alpha val="0"/>
              </a:srgbClr>
            </a:solidFill>
            <a:prstDash val="solid"/>
          </a:ln>
        </p:spPr>
      </p:sp>
      <p:sp>
        <p:nvSpPr>
          <p:cNvPr id="3" name="Motif circle small"/>
          <p:cNvSpPr/>
          <p:nvPr/>
        </p:nvSpPr>
        <p:spPr>
          <a:xfrm>
            <a:off x="7589520" y="3200400"/>
            <a:ext cx="1371600" cy="1371600"/>
          </a:xfrm>
          <a:prstGeom prst="ellipse">
            <a:avLst/>
          </a:prstGeom>
          <a:solidFill>
            <a:srgbClr val="F2A33A">
              <a:alpha val="85000"/>
            </a:srgbClr>
          </a:solidFill>
          <a:ln w="12700">
            <a:solidFill>
              <a:srgbClr val="F2A33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DDB0"/>
                </a:solidFill>
              </a:rPr>
              <a:t>Ferns &amp; Petals</a:t>
            </a:r>
            <a:endParaRPr lang="en-US" sz="1800" dirty="0"/>
          </a:p>
        </p:txBody>
      </p:sp>
      <p:sp>
        <p:nvSpPr>
          <p:cNvPr id="5" name="Deck title"/>
          <p:cNvSpPr txBox="1"/>
          <p:nvPr/>
        </p:nvSpPr>
        <p:spPr>
          <a:xfrm>
            <a:off x="548640" y="16002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Analysis 2023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What drove revenue across 1,000 orders, 70 products and 7 gifting occasions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DB0"/>
                </a:solidFill>
              </a:rPr>
              <a:t>Orders, products and customers data  |  Jan to Dec 2023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55"/>
                </a:solidFill>
              </a:rPr>
              <a:t>Revenue is concentrated around a few festivals; delivery speed is steady.</a:t>
            </a:r>
            <a:endParaRPr lang="en-US" sz="1600" dirty="0"/>
          </a:p>
        </p:txBody>
      </p:sp>
      <p:sp>
        <p:nvSpPr>
          <p:cNvPr id="4" name="Stat card"/>
          <p:cNvSpPr/>
          <p:nvPr/>
        </p:nvSpPr>
        <p:spPr>
          <a:xfrm>
            <a:off x="457200" y="155448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EEF5E4"/>
          </a:solidFill>
          <a:ln w="12700">
            <a:solidFill>
              <a:srgbClr val="EEF5E4"/>
            </a:solidFill>
            <a:prstDash val="solid"/>
          </a:ln>
        </p:spPr>
      </p:sp>
      <p:sp>
        <p:nvSpPr>
          <p:cNvPr id="5" name="Stat value"/>
          <p:cNvSpPr txBox="1"/>
          <p:nvPr/>
        </p:nvSpPr>
        <p:spPr>
          <a:xfrm>
            <a:off x="548640" y="1664208"/>
            <a:ext cx="173736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800" dirty="0"/>
          </a:p>
        </p:txBody>
      </p:sp>
      <p:sp>
        <p:nvSpPr>
          <p:cNvPr id="6" name="Stat label"/>
          <p:cNvSpPr txBox="1"/>
          <p:nvPr/>
        </p:nvSpPr>
        <p:spPr>
          <a:xfrm>
            <a:off x="548640" y="224576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55"/>
                </a:solidFill>
              </a:rPr>
              <a:t>Total orders</a:t>
            </a:r>
            <a:endParaRPr lang="en-US" sz="1200" dirty="0"/>
          </a:p>
        </p:txBody>
      </p:sp>
      <p:sp>
        <p:nvSpPr>
          <p:cNvPr id="7" name="Stat card"/>
          <p:cNvSpPr/>
          <p:nvPr/>
        </p:nvSpPr>
        <p:spPr>
          <a:xfrm>
            <a:off x="2560320" y="155448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EEF5E4"/>
          </a:solidFill>
          <a:ln w="12700">
            <a:solidFill>
              <a:srgbClr val="EEF5E4"/>
            </a:solidFill>
            <a:prstDash val="solid"/>
          </a:ln>
        </p:spPr>
      </p:sp>
      <p:sp>
        <p:nvSpPr>
          <p:cNvPr id="8" name="Stat value"/>
          <p:cNvSpPr txBox="1"/>
          <p:nvPr/>
        </p:nvSpPr>
        <p:spPr>
          <a:xfrm>
            <a:off x="2651760" y="1664208"/>
            <a:ext cx="173736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F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₹35,20,984</a:t>
            </a:r>
            <a:endParaRPr lang="en-US" sz="2200" dirty="0"/>
          </a:p>
        </p:txBody>
      </p:sp>
      <p:sp>
        <p:nvSpPr>
          <p:cNvPr id="9" name="Stat label"/>
          <p:cNvSpPr txBox="1"/>
          <p:nvPr/>
        </p:nvSpPr>
        <p:spPr>
          <a:xfrm>
            <a:off x="2651760" y="224576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55"/>
                </a:solidFill>
              </a:rPr>
              <a:t>Total revenue</a:t>
            </a:r>
            <a:endParaRPr lang="en-US" sz="1200" dirty="0"/>
          </a:p>
        </p:txBody>
      </p:sp>
      <p:sp>
        <p:nvSpPr>
          <p:cNvPr id="10" name="Stat card"/>
          <p:cNvSpPr/>
          <p:nvPr/>
        </p:nvSpPr>
        <p:spPr>
          <a:xfrm>
            <a:off x="4663440" y="155448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EEF5E4"/>
          </a:solidFill>
          <a:ln w="12700">
            <a:solidFill>
              <a:srgbClr val="EEF5E4"/>
            </a:solidFill>
            <a:prstDash val="solid"/>
          </a:ln>
        </p:spPr>
      </p:sp>
      <p:sp>
        <p:nvSpPr>
          <p:cNvPr id="11" name="Stat value"/>
          <p:cNvSpPr txBox="1"/>
          <p:nvPr/>
        </p:nvSpPr>
        <p:spPr>
          <a:xfrm>
            <a:off x="4754880" y="1664208"/>
            <a:ext cx="173736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5.53 days</a:t>
            </a:r>
            <a:endParaRPr lang="en-US" sz="2400" dirty="0"/>
          </a:p>
        </p:txBody>
      </p:sp>
      <p:sp>
        <p:nvSpPr>
          <p:cNvPr id="12" name="Stat label"/>
          <p:cNvSpPr txBox="1"/>
          <p:nvPr/>
        </p:nvSpPr>
        <p:spPr>
          <a:xfrm>
            <a:off x="4754880" y="224576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55"/>
                </a:solidFill>
              </a:rPr>
              <a:t>Avg order-to-delivery time</a:t>
            </a:r>
            <a:endParaRPr lang="en-US" sz="1200" dirty="0"/>
          </a:p>
        </p:txBody>
      </p:sp>
      <p:sp>
        <p:nvSpPr>
          <p:cNvPr id="13" name="Stat card"/>
          <p:cNvSpPr/>
          <p:nvPr/>
        </p:nvSpPr>
        <p:spPr>
          <a:xfrm>
            <a:off x="6766560" y="155448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EEF5E4"/>
          </a:solidFill>
          <a:ln w="12700">
            <a:solidFill>
              <a:srgbClr val="EEF5E4"/>
            </a:solidFill>
            <a:prstDash val="solid"/>
          </a:ln>
        </p:spPr>
      </p:sp>
      <p:sp>
        <p:nvSpPr>
          <p:cNvPr id="14" name="Stat value"/>
          <p:cNvSpPr txBox="1"/>
          <p:nvPr/>
        </p:nvSpPr>
        <p:spPr>
          <a:xfrm>
            <a:off x="6858000" y="1664208"/>
            <a:ext cx="173736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₹3,521</a:t>
            </a:r>
            <a:endParaRPr lang="en-US" sz="2400" dirty="0"/>
          </a:p>
        </p:txBody>
      </p:sp>
      <p:sp>
        <p:nvSpPr>
          <p:cNvPr id="15" name="Stat label"/>
          <p:cNvSpPr txBox="1"/>
          <p:nvPr/>
        </p:nvSpPr>
        <p:spPr>
          <a:xfrm>
            <a:off x="6858000" y="224576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55"/>
                </a:solidFill>
              </a:rPr>
              <a:t>Avg spend per order</a:t>
            </a:r>
            <a:endParaRPr lang="en-US" sz="1200" dirty="0"/>
          </a:p>
        </p:txBody>
      </p:sp>
      <p:sp>
        <p:nvSpPr>
          <p:cNvPr id="16" name="Key findings"/>
          <p:cNvSpPr txBox="1"/>
          <p:nvPr/>
        </p:nvSpPr>
        <p:spPr>
          <a:xfrm>
            <a:off x="457200" y="30632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3310"/>
                </a:solidFill>
              </a:rPr>
              <a:t>Feb, Mar, Aug and Nov deliver 68% of annual revenue, tied to Valentine's Day, Holi, Raksha Bandhan and Diwali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3310"/>
                </a:solidFill>
              </a:rPr>
              <a:t>Colors is the top category (₹10.06 lakh); Anniversary is the top occasion (₹6.75 lakh)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B3310"/>
                </a:solidFill>
              </a:rPr>
              <a:t>Delivery takes about 5.5 days whatever the order quantity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performance</a:t>
            </a:r>
            <a:endParaRPr lang="en-US" sz="30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55"/>
                </a:solidFill>
              </a:rPr>
              <a:t>Four festival months generate most of the year; most other months earn about ₹1.5 lakh.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6492240" y="150876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EEF5E4"/>
          </a:solidFill>
          <a:ln w="12700">
            <a:solidFill>
              <a:srgbClr val="EEF5E4"/>
            </a:solidFill>
            <a:prstDash val="solid"/>
          </a:ln>
        </p:spPr>
      </p:sp>
      <p:sp>
        <p:nvSpPr>
          <p:cNvPr id="6" name="Stat value"/>
          <p:cNvSpPr txBox="1"/>
          <p:nvPr/>
        </p:nvSpPr>
        <p:spPr>
          <a:xfrm>
            <a:off x="6583680" y="1618488"/>
            <a:ext cx="201168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₹7.37 L</a:t>
            </a:r>
            <a:endParaRPr lang="en-US" sz="2400" dirty="0"/>
          </a:p>
        </p:txBody>
      </p:sp>
      <p:sp>
        <p:nvSpPr>
          <p:cNvPr id="7" name="Stat label"/>
          <p:cNvSpPr txBox="1"/>
          <p:nvPr/>
        </p:nvSpPr>
        <p:spPr>
          <a:xfrm>
            <a:off x="6583680" y="207203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55"/>
                </a:solidFill>
              </a:rPr>
              <a:t>August: highest month (Raksha Bandhan)</a:t>
            </a:r>
            <a:endParaRPr lang="en-US" sz="1200" dirty="0"/>
          </a:p>
        </p:txBody>
      </p:sp>
      <p:sp>
        <p:nvSpPr>
          <p:cNvPr id="8" name="Stat card"/>
          <p:cNvSpPr/>
          <p:nvPr/>
        </p:nvSpPr>
        <p:spPr>
          <a:xfrm>
            <a:off x="6492240" y="265176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EEF5E4"/>
          </a:solidFill>
          <a:ln w="12700">
            <a:solidFill>
              <a:srgbClr val="EEF5E4"/>
            </a:solidFill>
            <a:prstDash val="solid"/>
          </a:ln>
        </p:spPr>
      </p:sp>
      <p:sp>
        <p:nvSpPr>
          <p:cNvPr id="9" name="Stat value"/>
          <p:cNvSpPr txBox="1"/>
          <p:nvPr/>
        </p:nvSpPr>
        <p:spPr>
          <a:xfrm>
            <a:off x="6583680" y="2761488"/>
            <a:ext cx="201168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₹7.05 L</a:t>
            </a:r>
            <a:endParaRPr lang="en-US" sz="2400" dirty="0"/>
          </a:p>
        </p:txBody>
      </p:sp>
      <p:sp>
        <p:nvSpPr>
          <p:cNvPr id="10" name="Stat label"/>
          <p:cNvSpPr txBox="1"/>
          <p:nvPr/>
        </p:nvSpPr>
        <p:spPr>
          <a:xfrm>
            <a:off x="6583680" y="321503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55"/>
                </a:solidFill>
              </a:rPr>
              <a:t>February: Valentine's Day + Holi</a:t>
            </a:r>
            <a:endParaRPr lang="en-US" sz="1200" dirty="0"/>
          </a:p>
        </p:txBody>
      </p:sp>
      <p:sp>
        <p:nvSpPr>
          <p:cNvPr id="11" name="Stat card"/>
          <p:cNvSpPr/>
          <p:nvPr/>
        </p:nvSpPr>
        <p:spPr>
          <a:xfrm>
            <a:off x="6492240" y="37947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EEF5E4"/>
          </a:solidFill>
          <a:ln w="12700">
            <a:solidFill>
              <a:srgbClr val="EEF5E4"/>
            </a:solidFill>
            <a:prstDash val="solid"/>
          </a:ln>
        </p:spPr>
      </p:sp>
      <p:sp>
        <p:nvSpPr>
          <p:cNvPr id="12" name="Stat value"/>
          <p:cNvSpPr txBox="1"/>
          <p:nvPr/>
        </p:nvSpPr>
        <p:spPr>
          <a:xfrm>
            <a:off x="6583680" y="39044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₹0.95 L</a:t>
            </a:r>
            <a:endParaRPr lang="en-US" sz="2400" dirty="0"/>
          </a:p>
        </p:txBody>
      </p:sp>
      <p:sp>
        <p:nvSpPr>
          <p:cNvPr id="13" name="Stat label"/>
          <p:cNvSpPr txBox="1"/>
          <p:nvPr/>
        </p:nvSpPr>
        <p:spPr>
          <a:xfrm>
            <a:off x="6583680" y="43068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55"/>
                </a:solidFill>
              </a:rPr>
              <a:t>January: lowest month</a:t>
            </a:r>
            <a:endParaRPr lang="en-US" sz="1200" dirty="0"/>
          </a:p>
        </p:txBody>
      </p:sp>
      <p:sp>
        <p:nvSpPr>
          <p:cNvPr id="14" name="Source note"/>
          <p:cNvSpPr txBox="1"/>
          <p:nvPr/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5"/>
                </a:solidFill>
              </a:rPr>
              <a:t>Revenue = price x quantity, by order month. Dark bars mark the four peak months.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occasion</a:t>
            </a:r>
            <a:endParaRPr lang="en-US" sz="30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55"/>
                </a:solidFill>
              </a:rPr>
              <a:t>Anniversary and Raksha Bandhan lead; Diwali and Valentine's Day trail.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6492240" y="155448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EEF5E4"/>
          </a:solidFill>
          <a:ln w="12700">
            <a:solidFill>
              <a:srgbClr val="EEF5E4"/>
            </a:solidFill>
            <a:prstDash val="solid"/>
          </a:ln>
        </p:spPr>
      </p:sp>
      <p:sp>
        <p:nvSpPr>
          <p:cNvPr id="6" name="Stat value"/>
          <p:cNvSpPr txBox="1"/>
          <p:nvPr/>
        </p:nvSpPr>
        <p:spPr>
          <a:xfrm>
            <a:off x="6583680" y="166420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</a:t>
            </a:r>
            <a:endParaRPr lang="en-US" sz="3200" dirty="0"/>
          </a:p>
        </p:txBody>
      </p:sp>
      <p:sp>
        <p:nvSpPr>
          <p:cNvPr id="7" name="Stat label"/>
          <p:cNvSpPr txBox="1"/>
          <p:nvPr/>
        </p:nvSpPr>
        <p:spPr>
          <a:xfrm>
            <a:off x="6583680" y="23225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55"/>
                </a:solidFill>
              </a:rPr>
              <a:t>of revenue from Anniversary and Raksha Bandhan</a:t>
            </a:r>
            <a:endParaRPr lang="en-US" sz="1200" dirty="0"/>
          </a:p>
        </p:txBody>
      </p:sp>
      <p:sp>
        <p:nvSpPr>
          <p:cNvPr id="8" name="Stat card"/>
          <p:cNvSpPr/>
          <p:nvPr/>
        </p:nvSpPr>
        <p:spPr>
          <a:xfrm>
            <a:off x="6492240" y="310896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EEF5E4"/>
          </a:solidFill>
          <a:ln w="12700">
            <a:solidFill>
              <a:srgbClr val="EEF5E4"/>
            </a:solidFill>
            <a:prstDash val="solid"/>
          </a:ln>
        </p:spPr>
      </p:sp>
      <p:sp>
        <p:nvSpPr>
          <p:cNvPr id="9" name="Stat value"/>
          <p:cNvSpPr txBox="1"/>
          <p:nvPr/>
        </p:nvSpPr>
        <p:spPr>
          <a:xfrm>
            <a:off x="6583680" y="321868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205</a:t>
            </a:r>
            <a:endParaRPr lang="en-US" sz="3200" dirty="0"/>
          </a:p>
        </p:txBody>
      </p:sp>
      <p:sp>
        <p:nvSpPr>
          <p:cNvPr id="10" name="Stat label"/>
          <p:cNvSpPr txBox="1"/>
          <p:nvPr/>
        </p:nvSpPr>
        <p:spPr>
          <a:xfrm>
            <a:off x="6583680" y="38770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55"/>
                </a:solidFill>
              </a:rPr>
              <a:t>Anniversary orders, the most of any occasion</a:t>
            </a:r>
            <a:endParaRPr lang="en-US" sz="1200" dirty="0"/>
          </a:p>
        </p:txBody>
      </p:sp>
      <p:sp>
        <p:nvSpPr>
          <p:cNvPr id="11" name="Source note"/>
          <p:cNvSpPr txBox="1"/>
          <p:nvPr/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5"/>
                </a:solidFill>
              </a:rPr>
              <a:t>Revenue in ₹ lakh. Occasion is taken from the order record.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category</a:t>
            </a:r>
            <a:endParaRPr lang="en-US" sz="30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55"/>
                </a:solidFill>
              </a:rPr>
              <a:t>Colors alone earns about three times as much as the Cake category.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6492240" y="155448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EEF5E4"/>
          </a:solidFill>
          <a:ln w="12700">
            <a:solidFill>
              <a:srgbClr val="EEF5E4"/>
            </a:solidFill>
            <a:prstDash val="solid"/>
          </a:ln>
        </p:spPr>
      </p:sp>
      <p:sp>
        <p:nvSpPr>
          <p:cNvPr id="6" name="Stat value"/>
          <p:cNvSpPr txBox="1"/>
          <p:nvPr/>
        </p:nvSpPr>
        <p:spPr>
          <a:xfrm>
            <a:off x="6583680" y="166420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3200" dirty="0"/>
          </a:p>
        </p:txBody>
      </p:sp>
      <p:sp>
        <p:nvSpPr>
          <p:cNvPr id="7" name="Stat label"/>
          <p:cNvSpPr txBox="1"/>
          <p:nvPr/>
        </p:nvSpPr>
        <p:spPr>
          <a:xfrm>
            <a:off x="6583680" y="23225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55"/>
                </a:solidFill>
              </a:rPr>
              <a:t>of revenue comes from Colors</a:t>
            </a:r>
            <a:endParaRPr lang="en-US" sz="1200" dirty="0"/>
          </a:p>
        </p:txBody>
      </p:sp>
      <p:sp>
        <p:nvSpPr>
          <p:cNvPr id="8" name="Stat card"/>
          <p:cNvSpPr/>
          <p:nvPr/>
        </p:nvSpPr>
        <p:spPr>
          <a:xfrm>
            <a:off x="6492240" y="310896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EEF5E4"/>
          </a:solidFill>
          <a:ln w="12700">
            <a:solidFill>
              <a:srgbClr val="EEF5E4"/>
            </a:solidFill>
            <a:prstDash val="solid"/>
          </a:ln>
        </p:spPr>
      </p:sp>
      <p:sp>
        <p:nvSpPr>
          <p:cNvPr id="9" name="Stat value"/>
          <p:cNvSpPr txBox="1"/>
          <p:nvPr/>
        </p:nvSpPr>
        <p:spPr>
          <a:xfrm>
            <a:off x="6583680" y="321868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200" dirty="0"/>
          </a:p>
        </p:txBody>
      </p:sp>
      <p:sp>
        <p:nvSpPr>
          <p:cNvPr id="10" name="Stat label"/>
          <p:cNvSpPr txBox="1"/>
          <p:nvPr/>
        </p:nvSpPr>
        <p:spPr>
          <a:xfrm>
            <a:off x="6583680" y="38770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55"/>
                </a:solidFill>
              </a:rPr>
              <a:t>from Colors, Soft Toys and Sweets combined</a:t>
            </a:r>
            <a:endParaRPr lang="en-US" sz="1200" dirty="0"/>
          </a:p>
        </p:txBody>
      </p:sp>
      <p:sp>
        <p:nvSpPr>
          <p:cNvPr id="11" name="Source note"/>
          <p:cNvSpPr txBox="1"/>
          <p:nvPr/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5"/>
                </a:solidFill>
              </a:rPr>
              <a:t>Revenue in ₹ lakh by product category.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products by revenue</a:t>
            </a:r>
            <a:endParaRPr lang="en-US" sz="30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55"/>
                </a:solidFill>
              </a:rPr>
              <a:t>Each of the top five earns about ₹1 lakh; Magnam Set is first.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6492240" y="155448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EEF5E4"/>
          </a:solidFill>
          <a:ln w="12700">
            <a:solidFill>
              <a:srgbClr val="EEF5E4"/>
            </a:solidFill>
            <a:prstDash val="solid"/>
          </a:ln>
        </p:spPr>
      </p:sp>
      <p:sp>
        <p:nvSpPr>
          <p:cNvPr id="6" name="Stat value"/>
          <p:cNvSpPr txBox="1"/>
          <p:nvPr/>
        </p:nvSpPr>
        <p:spPr>
          <a:xfrm>
            <a:off x="6583680" y="166420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₹5.42 L</a:t>
            </a:r>
            <a:endParaRPr lang="en-US" sz="2800" dirty="0"/>
          </a:p>
        </p:txBody>
      </p:sp>
      <p:sp>
        <p:nvSpPr>
          <p:cNvPr id="7" name="Stat label"/>
          <p:cNvSpPr txBox="1"/>
          <p:nvPr/>
        </p:nvSpPr>
        <p:spPr>
          <a:xfrm>
            <a:off x="6583680" y="23225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55"/>
                </a:solidFill>
              </a:rPr>
              <a:t>combined revenue of the top five</a:t>
            </a:r>
            <a:endParaRPr lang="en-US" sz="1200" dirty="0"/>
          </a:p>
        </p:txBody>
      </p:sp>
      <p:sp>
        <p:nvSpPr>
          <p:cNvPr id="8" name="Stat card"/>
          <p:cNvSpPr/>
          <p:nvPr/>
        </p:nvSpPr>
        <p:spPr>
          <a:xfrm>
            <a:off x="6492240" y="310896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EEF5E4"/>
          </a:solidFill>
          <a:ln w="12700">
            <a:solidFill>
              <a:srgbClr val="EEF5E4"/>
            </a:solidFill>
            <a:prstDash val="solid"/>
          </a:ln>
        </p:spPr>
      </p:sp>
      <p:sp>
        <p:nvSpPr>
          <p:cNvPr id="9" name="Stat value"/>
          <p:cNvSpPr txBox="1"/>
          <p:nvPr/>
        </p:nvSpPr>
        <p:spPr>
          <a:xfrm>
            <a:off x="6583680" y="321868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3200" dirty="0"/>
          </a:p>
        </p:txBody>
      </p:sp>
      <p:sp>
        <p:nvSpPr>
          <p:cNvPr id="10" name="Stat label"/>
          <p:cNvSpPr txBox="1"/>
          <p:nvPr/>
        </p:nvSpPr>
        <p:spPr>
          <a:xfrm>
            <a:off x="6583680" y="38770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55"/>
                </a:solidFill>
              </a:rPr>
              <a:t>of total revenue from 5 of 70 products</a:t>
            </a:r>
            <a:endParaRPr lang="en-US" sz="1200" dirty="0"/>
          </a:p>
        </p:txBody>
      </p:sp>
      <p:sp>
        <p:nvSpPr>
          <p:cNvPr id="11" name="Source note"/>
          <p:cNvSpPr txBox="1"/>
          <p:nvPr/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5"/>
                </a:solidFill>
              </a:rPr>
              <a:t>Grouped by product name. Quia Gift is two catalogue items (IDs 21 and 56), so the total combines both.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of the top 5 products</a:t>
            </a:r>
            <a:endParaRPr lang="en-US" sz="30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55"/>
                </a:solidFill>
              </a:rPr>
              <a:t>Dolores Gift and Harum Pack sell only in their festival window; Magnam Set sells in 11 of 12 months.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ource note"/>
          <p:cNvSpPr txBox="1"/>
          <p:nvPr/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5"/>
                </a:solidFill>
              </a:rPr>
              <a:t>Monthly revenue per product, stacked. Dolores Gift sells only in August (Raksha Bandhan); Harum Pack in Feb and Mar (Holi).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popularity by occasion</a:t>
            </a:r>
            <a:endParaRPr lang="en-US" sz="30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55"/>
                </a:solidFill>
              </a:rPr>
              <a:t>The leading product differs for every occasion; top three by revenue shown.</a:t>
            </a:r>
            <a:endParaRPr lang="en-US" sz="1600" dirty="0"/>
          </a:p>
        </p:txBody>
      </p:sp>
      <p:graphicFrame>
        <p:nvGraphicFramePr>
          <p:cNvPr id="9" name="Popular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Occasion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F5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F5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 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F5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 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F5A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Anniversary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Dignissimos Pack  ₹0.90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Provident Pack  ₹0.85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Delectus Gift  ₹0.76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Raksha Bandhan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Dolores Gift  ₹1.07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Nostrum Box  ₹0.98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Aperiam Box  ₹0.90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Occasions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Magnam Set  ₹1.22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Exercitationem Pack  ₹0.97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Expedita Gift  ₹0.89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Harum Pack  ₹1.02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 Gift  ₹0.91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 Set  ₹0.70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Deserunt Box  ₹0.98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Fuga Set  ₹0.81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Voluptatem Box  ₹0.60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Valentine's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Eius Gift  ₹0.86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 Pack  ₹0.67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Iure Gift  ₹0.52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Diwali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 Box  ₹0.81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Accusantium Set  ₹0.61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3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Officiis Pack  ₹0.46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E4"/>
                    </a:solidFill>
                  </a:tcPr>
                </a:tc>
              </a:tr>
            </a:tbl>
          </a:graphicData>
        </a:graphic>
      </p:graphicFrame>
      <p:sp>
        <p:nvSpPr>
          <p:cNvPr id="5" name="Source note"/>
          <p:cNvSpPr txBox="1"/>
          <p:nvPr/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5"/>
                </a:solidFill>
              </a:rPr>
              <a:t>Revenue in ₹ lakh, by order occasion. Dignissimos Pack sold the most units of any Anniversary product (82).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cities by number of orders</a:t>
            </a:r>
            <a:endParaRPr lang="en-US" sz="30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55"/>
                </a:solidFill>
              </a:rPr>
              <a:t>Imphal, Dhanbad and Kavali place the most orders.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6492240" y="155448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EEF5E4"/>
          </a:solidFill>
          <a:ln w="12700">
            <a:solidFill>
              <a:srgbClr val="EEF5E4"/>
            </a:solidFill>
            <a:prstDash val="solid"/>
          </a:ln>
        </p:spPr>
      </p:sp>
      <p:sp>
        <p:nvSpPr>
          <p:cNvPr id="6" name="Stat value"/>
          <p:cNvSpPr txBox="1"/>
          <p:nvPr/>
        </p:nvSpPr>
        <p:spPr>
          <a:xfrm>
            <a:off x="6583680" y="166420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3200" dirty="0"/>
          </a:p>
        </p:txBody>
      </p:sp>
      <p:sp>
        <p:nvSpPr>
          <p:cNvPr id="7" name="Stat label"/>
          <p:cNvSpPr txBox="1"/>
          <p:nvPr/>
        </p:nvSpPr>
        <p:spPr>
          <a:xfrm>
            <a:off x="6583680" y="23225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55"/>
                </a:solidFill>
              </a:rPr>
              <a:t>orders from the top three cities (8% of all orders)</a:t>
            </a:r>
            <a:endParaRPr lang="en-US" sz="1200" dirty="0"/>
          </a:p>
        </p:txBody>
      </p:sp>
      <p:sp>
        <p:nvSpPr>
          <p:cNvPr id="8" name="Stat card"/>
          <p:cNvSpPr/>
          <p:nvPr/>
        </p:nvSpPr>
        <p:spPr>
          <a:xfrm>
            <a:off x="6492240" y="310896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EEF5E4"/>
          </a:solidFill>
          <a:ln w="12700">
            <a:solidFill>
              <a:srgbClr val="EEF5E4"/>
            </a:solidFill>
            <a:prstDash val="solid"/>
          </a:ln>
        </p:spPr>
      </p:sp>
      <p:sp>
        <p:nvSpPr>
          <p:cNvPr id="9" name="Stat value"/>
          <p:cNvSpPr txBox="1"/>
          <p:nvPr/>
        </p:nvSpPr>
        <p:spPr>
          <a:xfrm>
            <a:off x="6583680" y="321868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₹1.26 L</a:t>
            </a:r>
            <a:endParaRPr lang="en-US" sz="2800" dirty="0"/>
          </a:p>
        </p:txBody>
      </p:sp>
      <p:sp>
        <p:nvSpPr>
          <p:cNvPr id="10" name="Stat label"/>
          <p:cNvSpPr txBox="1"/>
          <p:nvPr/>
        </p:nvSpPr>
        <p:spPr>
          <a:xfrm>
            <a:off x="6583680" y="38770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55"/>
                </a:solidFill>
              </a:rPr>
              <a:t>revenue from Imphal, the top city</a:t>
            </a:r>
            <a:endParaRPr lang="en-US" sz="1200" dirty="0"/>
          </a:p>
        </p:txBody>
      </p:sp>
      <p:sp>
        <p:nvSpPr>
          <p:cNvPr id="11" name="Source note"/>
          <p:cNvSpPr txBox="1"/>
          <p:nvPr/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5"/>
                </a:solidFill>
              </a:rPr>
              <a:t>City is the customer's home city. Delivery locations are far more spread out (301 locations, no more than 9 orders each).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spending analysis</a:t>
            </a:r>
            <a:endParaRPr lang="en-US" sz="30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55"/>
                </a:solidFill>
              </a:rPr>
              <a:t>A typical order is about ₹3,500; the average customer spends about ₹35,000 across 10 orders.</a:t>
            </a:r>
            <a:endParaRPr lang="en-US" sz="1600" dirty="0"/>
          </a:p>
        </p:txBody>
      </p:sp>
      <p:sp>
        <p:nvSpPr>
          <p:cNvPr id="4" name="Stat card"/>
          <p:cNvSpPr/>
          <p:nvPr/>
        </p:nvSpPr>
        <p:spPr>
          <a:xfrm>
            <a:off x="457200" y="155448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EEF5E4"/>
          </a:solidFill>
          <a:ln w="12700">
            <a:solidFill>
              <a:srgbClr val="EEF5E4"/>
            </a:solidFill>
            <a:prstDash val="solid"/>
          </a:ln>
        </p:spPr>
      </p:sp>
      <p:sp>
        <p:nvSpPr>
          <p:cNvPr id="5" name="Stat value"/>
          <p:cNvSpPr txBox="1"/>
          <p:nvPr/>
        </p:nvSpPr>
        <p:spPr>
          <a:xfrm>
            <a:off x="548640" y="1664208"/>
            <a:ext cx="173736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₹3,521</a:t>
            </a:r>
            <a:endParaRPr lang="en-US" sz="2400" dirty="0"/>
          </a:p>
        </p:txBody>
      </p:sp>
      <p:sp>
        <p:nvSpPr>
          <p:cNvPr id="6" name="Stat label"/>
          <p:cNvSpPr txBox="1"/>
          <p:nvPr/>
        </p:nvSpPr>
        <p:spPr>
          <a:xfrm>
            <a:off x="548640" y="224576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55"/>
                </a:solidFill>
              </a:rPr>
              <a:t>Average spend per order</a:t>
            </a:r>
            <a:endParaRPr lang="en-US" sz="1200" dirty="0"/>
          </a:p>
        </p:txBody>
      </p:sp>
      <p:sp>
        <p:nvSpPr>
          <p:cNvPr id="7" name="Stat card"/>
          <p:cNvSpPr/>
          <p:nvPr/>
        </p:nvSpPr>
        <p:spPr>
          <a:xfrm>
            <a:off x="457200" y="292608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EEF5E4"/>
          </a:solidFill>
          <a:ln w="12700">
            <a:solidFill>
              <a:srgbClr val="EEF5E4"/>
            </a:solidFill>
            <a:prstDash val="solid"/>
          </a:ln>
        </p:spPr>
      </p:sp>
      <p:sp>
        <p:nvSpPr>
          <p:cNvPr id="8" name="Stat value"/>
          <p:cNvSpPr txBox="1"/>
          <p:nvPr/>
        </p:nvSpPr>
        <p:spPr>
          <a:xfrm>
            <a:off x="548640" y="3035808"/>
            <a:ext cx="173736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F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₹35,210</a:t>
            </a:r>
            <a:endParaRPr lang="en-US" sz="2200" dirty="0"/>
          </a:p>
        </p:txBody>
      </p:sp>
      <p:sp>
        <p:nvSpPr>
          <p:cNvPr id="9" name="Stat label"/>
          <p:cNvSpPr txBox="1"/>
          <p:nvPr/>
        </p:nvSpPr>
        <p:spPr>
          <a:xfrm>
            <a:off x="548640" y="361736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55"/>
                </a:solidFill>
              </a:rPr>
              <a:t>Average spend per customer (10 orders each)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2651760" y="1463040"/>
          <a:ext cx="60350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ource note"/>
          <p:cNvSpPr txBox="1"/>
          <p:nvPr/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5"/>
                </a:solidFill>
              </a:rPr>
              <a:t>Revenue peaks around 7 to 8 pm (₹1.86 lakh per hour). The dashboard's ₹3,520.98 tile is spend per order, not per customer.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quantity vs delivery time</a:t>
            </a:r>
            <a:endParaRPr lang="en-US" sz="30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E6B55"/>
                </a:solidFill>
              </a:rPr>
              <a:t>Delivery takes about 5.5 days at every quantity; bigger orders are not slower.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6492240" y="155448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EEF5E4"/>
          </a:solidFill>
          <a:ln w="12700">
            <a:solidFill>
              <a:srgbClr val="EEF5E4"/>
            </a:solidFill>
            <a:prstDash val="solid"/>
          </a:ln>
        </p:spPr>
      </p:sp>
      <p:sp>
        <p:nvSpPr>
          <p:cNvPr id="6" name="Stat value"/>
          <p:cNvSpPr txBox="1"/>
          <p:nvPr/>
        </p:nvSpPr>
        <p:spPr>
          <a:xfrm>
            <a:off x="6583680" y="166420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</a:t>
            </a:r>
            <a:endParaRPr lang="en-US" sz="3200" dirty="0"/>
          </a:p>
        </p:txBody>
      </p:sp>
      <p:sp>
        <p:nvSpPr>
          <p:cNvPr id="7" name="Stat label"/>
          <p:cNvSpPr txBox="1"/>
          <p:nvPr/>
        </p:nvSpPr>
        <p:spPr>
          <a:xfrm>
            <a:off x="6583680" y="23225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55"/>
                </a:solidFill>
              </a:rPr>
              <a:t>correlation between quantity and delivery time</a:t>
            </a:r>
            <a:endParaRPr lang="en-US" sz="1200" dirty="0"/>
          </a:p>
        </p:txBody>
      </p:sp>
      <p:sp>
        <p:nvSpPr>
          <p:cNvPr id="8" name="Stat card"/>
          <p:cNvSpPr/>
          <p:nvPr/>
        </p:nvSpPr>
        <p:spPr>
          <a:xfrm>
            <a:off x="6492240" y="310896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EEF5E4"/>
          </a:solidFill>
          <a:ln w="12700">
            <a:solidFill>
              <a:srgbClr val="EEF5E4"/>
            </a:solidFill>
            <a:prstDash val="solid"/>
          </a:ln>
        </p:spPr>
      </p:sp>
      <p:sp>
        <p:nvSpPr>
          <p:cNvPr id="9" name="Stat value"/>
          <p:cNvSpPr txBox="1"/>
          <p:nvPr/>
        </p:nvSpPr>
        <p:spPr>
          <a:xfrm>
            <a:off x="6583680" y="321868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F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to 10 days</a:t>
            </a:r>
            <a:endParaRPr lang="en-US" sz="2200" dirty="0"/>
          </a:p>
        </p:txBody>
      </p:sp>
      <p:sp>
        <p:nvSpPr>
          <p:cNvPr id="10" name="Stat label"/>
          <p:cNvSpPr txBox="1"/>
          <p:nvPr/>
        </p:nvSpPr>
        <p:spPr>
          <a:xfrm>
            <a:off x="6583680" y="38770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55"/>
                </a:solidFill>
              </a:rPr>
              <a:t>range of delivery time, median 5 days</a:t>
            </a:r>
            <a:endParaRPr lang="en-US" sz="1200" dirty="0"/>
          </a:p>
        </p:txBody>
      </p:sp>
      <p:sp>
        <p:nvSpPr>
          <p:cNvPr id="11" name="Source note"/>
          <p:cNvSpPr txBox="1"/>
          <p:nvPr/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5"/>
                </a:solidFill>
              </a:rPr>
              <a:t>Delivery time = calendar days between order date and delivery date, averaged by quantity per order (1 to 5).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with this</a:t>
            </a:r>
            <a:endParaRPr lang="en-US" sz="3200" dirty="0"/>
          </a:p>
        </p:txBody>
      </p:sp>
      <p:sp>
        <p:nvSpPr>
          <p:cNvPr id="3" name="Recommendation card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Number badge"/>
          <p:cNvSpPr txBox="1"/>
          <p:nvPr/>
        </p:nvSpPr>
        <p:spPr>
          <a:xfrm>
            <a:off x="594360" y="1371600"/>
            <a:ext cx="411480" cy="411480"/>
          </a:xfrm>
          <a:prstGeom prst="ellipse">
            <a:avLst/>
          </a:prstGeom>
          <a:solidFill>
            <a:srgbClr val="8DC6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10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441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Stock for the four peaks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Feb, Mar, Aug and Nov bring 68% of revenue. Plan inventory, delivery capacity and campaigns ahead of Valentine's Day, Holi, Raksha Bandhan and Diwali.</a:t>
            </a:r>
            <a:endParaRPr lang="en-US" sz="1200" dirty="0"/>
          </a:p>
        </p:txBody>
      </p:sp>
      <p:sp>
        <p:nvSpPr>
          <p:cNvPr id="7" name="Recommendation card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Number badge"/>
          <p:cNvSpPr txBox="1"/>
          <p:nvPr/>
        </p:nvSpPr>
        <p:spPr>
          <a:xfrm>
            <a:off x="4800600" y="1371600"/>
            <a:ext cx="411480" cy="411480"/>
          </a:xfrm>
          <a:prstGeom prst="ellipse">
            <a:avLst/>
          </a:prstGeom>
          <a:solidFill>
            <a:srgbClr val="8DC6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10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13441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Lift the quiet months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874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Apr to Jul, Sep, Oct and Dec each earn only ₹1.4 to 1.6 lakh. Anniversary and Birthday gifting runs all year, so push those in the off-season.</a:t>
            </a:r>
            <a:endParaRPr lang="en-US" sz="1200" dirty="0"/>
          </a:p>
        </p:txBody>
      </p:sp>
      <p:sp>
        <p:nvSpPr>
          <p:cNvPr id="11" name="Recommendation card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Number badge"/>
          <p:cNvSpPr txBox="1"/>
          <p:nvPr/>
        </p:nvSpPr>
        <p:spPr>
          <a:xfrm>
            <a:off x="594360" y="3108960"/>
            <a:ext cx="411480" cy="411480"/>
          </a:xfrm>
          <a:prstGeom prst="ellipse">
            <a:avLst/>
          </a:prstGeom>
          <a:solidFill>
            <a:srgbClr val="8DC6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10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081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 the winners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11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Colors, Soft Toys and Sweets earn 70% of revenue. Feature Magnam Set and the top five in promotions and bundles.</a:t>
            </a:r>
            <a:endParaRPr lang="en-US" sz="1200" dirty="0"/>
          </a:p>
        </p:txBody>
      </p:sp>
      <p:sp>
        <p:nvSpPr>
          <p:cNvPr id="15" name="Recommendation card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Number badge"/>
          <p:cNvSpPr txBox="1"/>
          <p:nvPr/>
        </p:nvSpPr>
        <p:spPr>
          <a:xfrm>
            <a:off x="4800600" y="3108960"/>
            <a:ext cx="411480" cy="411480"/>
          </a:xfrm>
          <a:prstGeom prst="ellipse">
            <a:avLst/>
          </a:prstGeom>
          <a:solidFill>
            <a:srgbClr val="8DC6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10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3081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Keep delivery promise at 5 to 6 days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611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Speed does not depend on order size, so consistent delivery messaging is safe. The aim now is to shorten the 10-day tail.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NP Sales">
  <a:themeElements>
    <a:clrScheme name="FNP Sales">
      <a:dk1>
        <a:srgbClr val="1B3310"/>
      </a:dk1>
      <a:lt1>
        <a:srgbClr val="FFFFFF"/>
      </a:lt1>
      <a:dk2>
        <a:srgbClr val="2F5A1A"/>
      </a:dk2>
      <a:lt2>
        <a:srgbClr val="EEF5E4"/>
      </a:lt2>
      <a:accent1>
        <a:srgbClr val="8DC63F"/>
      </a:accent1>
      <a:accent2>
        <a:srgbClr val="2F5A1A"/>
      </a:accent2>
      <a:accent3>
        <a:srgbClr val="F2A33A"/>
      </a:accent3>
      <a:accent4>
        <a:srgbClr val="6B8E4E"/>
      </a:accent4>
      <a:accent5>
        <a:srgbClr val="C8DDB0"/>
      </a:accent5>
      <a:accent6>
        <a:srgbClr val="B5532B"/>
      </a:accent6>
      <a:hlink>
        <a:srgbClr val="2F5A1A"/>
      </a:hlink>
      <a:folHlink>
        <a:srgbClr val="6B8E4E"/>
      </a:folHlink>
    </a:clrScheme>
    <a:fontScheme name="FNP Sal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Ferns and Petals Sales Analysis</dc:title>
  <dc:subject>PptxGenJS Presentation</dc:subject>
  <dc:creator>Sales Analytics</dc:creator>
  <cp:lastModifiedBy>Sales Analytics</cp:lastModifiedBy>
  <cp:revision>1</cp:revision>
  <dcterms:created xsi:type="dcterms:W3CDTF">2026-10-30T02:15:49Z</dcterms:created>
  <dcterms:modified xsi:type="dcterms:W3CDTF">2026-10-30T02:15:49Z</dcterms:modified>
</cp:coreProperties>
</file>